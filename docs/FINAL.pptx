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  <p:sldMasterId id="2147483663" r:id="rId2"/>
  </p:sldMasterIdLst>
  <p:notesMasterIdLst>
    <p:notesMasterId r:id="rId20"/>
  </p:notesMasterIdLst>
  <p:sldIdLst>
    <p:sldId id="256" r:id="rId3"/>
    <p:sldId id="257" r:id="rId4"/>
    <p:sldId id="261" r:id="rId5"/>
    <p:sldId id="259" r:id="rId6"/>
    <p:sldId id="263" r:id="rId7"/>
    <p:sldId id="258" r:id="rId8"/>
    <p:sldId id="260" r:id="rId9"/>
    <p:sldId id="262" r:id="rId10"/>
    <p:sldId id="264" r:id="rId11"/>
    <p:sldId id="269" r:id="rId12"/>
    <p:sldId id="265" r:id="rId13"/>
    <p:sldId id="272" r:id="rId14"/>
    <p:sldId id="268" r:id="rId15"/>
    <p:sldId id="266" r:id="rId16"/>
    <p:sldId id="267" r:id="rId17"/>
    <p:sldId id="270" r:id="rId18"/>
    <p:sldId id="271" r:id="rId19"/>
  </p:sldIdLst>
  <p:sldSz cx="9144000" cy="5143500" type="screen16x9"/>
  <p:notesSz cx="6858000" cy="9144000"/>
  <p:embeddedFontLst>
    <p:embeddedFont>
      <p:font typeface="Quattrocento Sans" panose="020B0502050000020003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caed9ace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“This project focuses on combining AI and explainability for healthcare analytics.”</a:t>
            </a:r>
            <a:endParaRPr dirty="0"/>
          </a:p>
        </p:txBody>
      </p:sp>
      <p:sp>
        <p:nvSpPr>
          <p:cNvPr id="66" name="Google Shape;66;g3bdcaed9ace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dcaed9ace_1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g3bdcaed9ace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caed9ace_1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“Existing systems either predict or analyze — but don’t combine both with explainability.”</a:t>
            </a:r>
            <a:br>
              <a:rPr lang="en-US" dirty="0"/>
            </a:br>
            <a:r>
              <a:rPr lang="en-US" dirty="0"/>
              <a:t>“Users don’t trust AI because they don’t know </a:t>
            </a:r>
            <a:r>
              <a:rPr lang="en-US" i="1" dirty="0"/>
              <a:t>why</a:t>
            </a:r>
            <a:r>
              <a:rPr lang="en-US" dirty="0"/>
              <a:t> a prediction was made.”</a:t>
            </a:r>
            <a:endParaRPr dirty="0"/>
          </a:p>
        </p:txBody>
      </p:sp>
      <p:sp>
        <p:nvSpPr>
          <p:cNvPr id="126" name="Google Shape;126;g3bdcaed9ace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c0fb7659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c0fb7659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caed9ace_1_8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bdcaed9ace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dcaed9ace_1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“In healthcare, predictions without explanation are not reliable.” “Instead of just predicting sentiment, we show </a:t>
            </a:r>
            <a:r>
              <a:rPr lang="en-US" i="1" dirty="0"/>
              <a:t>why</a:t>
            </a:r>
            <a:r>
              <a:rPr lang="en-US" dirty="0"/>
              <a:t> it was predicted.”</a:t>
            </a:r>
            <a:endParaRPr dirty="0"/>
          </a:p>
        </p:txBody>
      </p:sp>
      <p:sp>
        <p:nvSpPr>
          <p:cNvPr id="103" name="Google Shape;103;g3bdcaed9ace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dcaed9ace_1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“The system follows a modular architecture connecting UI, API, and ML models.”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7" name="Google Shape;117;g3bdcaed9ace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dcaed9ace_1_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bdcaed9ace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dcaed9ace_1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bdcaed9ace_1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dc0fb7659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dc0fb7659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dcaed9ace_1_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bdcaed9ace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8ACCD8BC-44CE-4FF0-FAF8-7F962AD3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dc0fb7659_2_10:notes">
            <a:extLst>
              <a:ext uri="{FF2B5EF4-FFF2-40B4-BE49-F238E27FC236}">
                <a16:creationId xmlns:a16="http://schemas.microsoft.com/office/drawing/2014/main" id="{2A840002-82B3-775E-6889-C45C2CCEC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dc0fb7659_2_10:notes">
            <a:extLst>
              <a:ext uri="{FF2B5EF4-FFF2-40B4-BE49-F238E27FC236}">
                <a16:creationId xmlns:a16="http://schemas.microsoft.com/office/drawing/2014/main" id="{9D7B7673-46A4-DBF4-EDEB-40700C9D76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074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dcaed9ace_1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bdcaed9ace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dc0fb7659_2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dc0fb7659_2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dcaed9ace_1_10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bdcaed9ace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dcaed9ace_1_1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g3bdcaed9ace_1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dcaed9ace_1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g3bdcaed9ace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jp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74140" y="64873"/>
            <a:ext cx="8998808" cy="5013754"/>
          </a:xfrm>
          <a:prstGeom prst="rect">
            <a:avLst/>
          </a:prstGeom>
          <a:noFill/>
          <a:ln w="28575" cap="flat" cmpd="sng">
            <a:solidFill>
              <a:srgbClr val="46B0F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13" descr="A picture containing text, clipart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 t="12813" r="7454"/>
          <a:stretch/>
        </p:blipFill>
        <p:spPr>
          <a:xfrm>
            <a:off x="8038567" y="95866"/>
            <a:ext cx="1002193" cy="40558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/>
          <p:nvPr/>
        </p:nvSpPr>
        <p:spPr>
          <a:xfrm>
            <a:off x="8001000" y="112853"/>
            <a:ext cx="1035935" cy="512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7" descr="A picture containing text, sign, outdoo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22" y="94581"/>
            <a:ext cx="657128" cy="1118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7" descr="A picture containing text, clipar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0871" y="114490"/>
            <a:ext cx="3116062" cy="123001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7"/>
          <p:cNvSpPr txBox="1"/>
          <p:nvPr/>
        </p:nvSpPr>
        <p:spPr>
          <a:xfrm>
            <a:off x="1005840" y="1061708"/>
            <a:ext cx="7132320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- 1 Project</a:t>
            </a:r>
            <a:b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2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TERM PRESENTATION</a:t>
            </a:r>
            <a:endParaRPr sz="1100" dirty="0"/>
          </a:p>
        </p:txBody>
      </p:sp>
      <p:sp>
        <p:nvSpPr>
          <p:cNvPr id="72" name="Google Shape;72;p17"/>
          <p:cNvSpPr txBox="1"/>
          <p:nvPr/>
        </p:nvSpPr>
        <p:spPr>
          <a:xfrm>
            <a:off x="885750" y="2231303"/>
            <a:ext cx="7461416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lvl="0" algn="ctr"/>
            <a:r>
              <a:rPr lang="en-GB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MediXAI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Explainable AI for Drug Insights &amp; Symptom-Based Recommendation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Google Shape;73;p17"/>
          <p:cNvSpPr txBox="1"/>
          <p:nvPr/>
        </p:nvSpPr>
        <p:spPr>
          <a:xfrm>
            <a:off x="228622" y="4057149"/>
            <a:ext cx="3122001" cy="746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R2142221204 - Manas Arora</a:t>
            </a:r>
            <a:endParaRPr sz="11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7099912" y="4057149"/>
            <a:ext cx="1815466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Mentored By:</a:t>
            </a:r>
            <a:br>
              <a:rPr lang="en-GB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5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Debanjan Ghosh</a:t>
            </a:r>
            <a:endParaRPr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79;p18"/>
          <p:cNvGrpSpPr/>
          <p:nvPr/>
        </p:nvGrpSpPr>
        <p:grpSpPr>
          <a:xfrm>
            <a:off x="134471" y="186469"/>
            <a:ext cx="1411939" cy="438581"/>
            <a:chOff x="98613" y="248626"/>
            <a:chExt cx="1882586" cy="584774"/>
          </a:xfrm>
        </p:grpSpPr>
        <p:sp>
          <p:nvSpPr>
            <p:cNvPr id="80" name="Google Shape;80;p18"/>
            <p:cNvSpPr/>
            <p:nvPr/>
          </p:nvSpPr>
          <p:spPr>
            <a:xfrm>
              <a:off x="98613" y="248626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391000" y="248626"/>
              <a:ext cx="1590199" cy="584774"/>
            </a:xfrm>
            <a:custGeom>
              <a:avLst/>
              <a:gdLst/>
              <a:ahLst/>
              <a:cxnLst/>
              <a:rect l="l" t="t" r="r" b="b"/>
              <a:pathLst>
                <a:path w="1590199" h="584774" extrusionOk="0">
                  <a:moveTo>
                    <a:pt x="0" y="0"/>
                  </a:moveTo>
                  <a:lnTo>
                    <a:pt x="1590199" y="0"/>
                  </a:lnTo>
                  <a:lnTo>
                    <a:pt x="1590199" y="584774"/>
                  </a:lnTo>
                  <a:lnTo>
                    <a:pt x="0" y="584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>
                <a:alpha val="90196"/>
              </a:schemeClr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Content</a:t>
              </a:r>
              <a:endParaRPr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82" name="Google Shape;82;p18"/>
          <p:cNvGrpSpPr/>
          <p:nvPr/>
        </p:nvGrpSpPr>
        <p:grpSpPr>
          <a:xfrm>
            <a:off x="3101902" y="626282"/>
            <a:ext cx="3159601" cy="4388238"/>
            <a:chOff x="3744713" y="1643"/>
            <a:chExt cx="4212802" cy="5850984"/>
          </a:xfrm>
        </p:grpSpPr>
        <p:sp>
          <p:nvSpPr>
            <p:cNvPr id="83" name="Google Shape;83;p18"/>
            <p:cNvSpPr/>
            <p:nvPr/>
          </p:nvSpPr>
          <p:spPr>
            <a:xfrm>
              <a:off x="3744713" y="1643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8"/>
            <p:cNvSpPr txBox="1"/>
            <p:nvPr/>
          </p:nvSpPr>
          <p:spPr>
            <a:xfrm>
              <a:off x="3775098" y="32028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 dirty="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Abstract</a:t>
              </a:r>
              <a:endParaRPr sz="14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3744713" y="655210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8"/>
            <p:cNvSpPr txBox="1"/>
            <p:nvPr/>
          </p:nvSpPr>
          <p:spPr>
            <a:xfrm>
              <a:off x="3775098" y="685595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" name="Google Shape;87;p18"/>
            <p:cNvSpPr/>
            <p:nvPr/>
          </p:nvSpPr>
          <p:spPr>
            <a:xfrm>
              <a:off x="3744713" y="1308778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8"/>
            <p:cNvSpPr txBox="1"/>
            <p:nvPr/>
          </p:nvSpPr>
          <p:spPr>
            <a:xfrm>
              <a:off x="3775098" y="1339163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  <a:endParaRPr sz="1100"/>
            </a:p>
          </p:txBody>
        </p:sp>
        <p:sp>
          <p:nvSpPr>
            <p:cNvPr id="89" name="Google Shape;89;p18"/>
            <p:cNvSpPr/>
            <p:nvPr/>
          </p:nvSpPr>
          <p:spPr>
            <a:xfrm>
              <a:off x="3744713" y="1962345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8"/>
            <p:cNvSpPr txBox="1"/>
            <p:nvPr/>
          </p:nvSpPr>
          <p:spPr>
            <a:xfrm>
              <a:off x="3775098" y="1992730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Overview</a:t>
              </a:r>
              <a:endParaRPr sz="1100"/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3744713" y="2615912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8"/>
            <p:cNvSpPr txBox="1"/>
            <p:nvPr/>
          </p:nvSpPr>
          <p:spPr>
            <a:xfrm>
              <a:off x="3775098" y="2646297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endParaRPr sz="1100"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3744713" y="3269480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8"/>
            <p:cNvSpPr txBox="1"/>
            <p:nvPr/>
          </p:nvSpPr>
          <p:spPr>
            <a:xfrm>
              <a:off x="3775098" y="3299865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Methodology</a:t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3744713" y="3923047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8"/>
            <p:cNvSpPr txBox="1"/>
            <p:nvPr/>
          </p:nvSpPr>
          <p:spPr>
            <a:xfrm>
              <a:off x="3775098" y="3953432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 stack</a:t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3744713" y="4576614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3775098" y="4606999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SWOT Analysis</a:t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3744713" y="5230182"/>
              <a:ext cx="4212802" cy="622445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8"/>
            <p:cNvSpPr txBox="1"/>
            <p:nvPr/>
          </p:nvSpPr>
          <p:spPr>
            <a:xfrm>
              <a:off x="3775098" y="5260567"/>
              <a:ext cx="4152032" cy="56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1425" tIns="25700" rIns="51425" bIns="2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Times New Roman"/>
                <a:buNone/>
              </a:pPr>
              <a:r>
                <a:rPr lang="en-GB" sz="14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 </a:t>
              </a:r>
              <a:endParaRPr sz="1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22"/>
          <p:cNvGrpSpPr/>
          <p:nvPr/>
        </p:nvGrpSpPr>
        <p:grpSpPr>
          <a:xfrm>
            <a:off x="187179" y="295033"/>
            <a:ext cx="3192780" cy="499212"/>
            <a:chOff x="0" y="0"/>
            <a:chExt cx="4257040" cy="665616"/>
          </a:xfrm>
        </p:grpSpPr>
        <p:sp>
          <p:nvSpPr>
            <p:cNvPr id="129" name="Google Shape;129;p22"/>
            <p:cNvSpPr/>
            <p:nvPr/>
          </p:nvSpPr>
          <p:spPr>
            <a:xfrm>
              <a:off x="0" y="0"/>
              <a:ext cx="665616" cy="665616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2"/>
            <p:cNvSpPr/>
            <p:nvPr/>
          </p:nvSpPr>
          <p:spPr>
            <a:xfrm>
              <a:off x="332808" y="0"/>
              <a:ext cx="3924232" cy="665616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2"/>
            <p:cNvSpPr txBox="1"/>
            <p:nvPr/>
          </p:nvSpPr>
          <p:spPr>
            <a:xfrm>
              <a:off x="332808" y="0"/>
              <a:ext cx="3924232" cy="6656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Problem Statement</a:t>
              </a:r>
              <a:endParaRPr sz="2100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32" name="Google Shape;132;p22"/>
          <p:cNvSpPr/>
          <p:nvPr/>
        </p:nvSpPr>
        <p:spPr>
          <a:xfrm>
            <a:off x="309211" y="1117132"/>
            <a:ext cx="7516127" cy="249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R="0" lvl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</a:pPr>
            <a:endParaRPr sz="11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D2F4FF-3A2D-7F49-0549-ED7F891DB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211" y="915768"/>
            <a:ext cx="6378308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amount of unstructured drug review data</a:t>
            </a: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explainability in AI systems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models act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boxes (no transparency)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unified platform for: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drug analysis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comparison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symptom-based prediction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00" y="542425"/>
            <a:ext cx="7817000" cy="44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24"/>
          <p:cNvGrpSpPr/>
          <p:nvPr/>
        </p:nvGrpSpPr>
        <p:grpSpPr>
          <a:xfrm>
            <a:off x="190197" y="240714"/>
            <a:ext cx="1892000" cy="438581"/>
            <a:chOff x="0" y="0"/>
            <a:chExt cx="2522666" cy="584774"/>
          </a:xfrm>
        </p:grpSpPr>
        <p:sp>
          <p:nvSpPr>
            <p:cNvPr id="147" name="Google Shape;147;p24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292387" y="0"/>
              <a:ext cx="2230279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4"/>
            <p:cNvSpPr txBox="1"/>
            <p:nvPr/>
          </p:nvSpPr>
          <p:spPr>
            <a:xfrm>
              <a:off x="292387" y="0"/>
              <a:ext cx="2230279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Objective</a:t>
              </a:r>
              <a:endParaRPr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1E42FCC-C40C-D306-571F-F100F2D73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87" y="967587"/>
            <a:ext cx="4849873" cy="253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predictions using SHAP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of drug reviews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insights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Drug comparison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Symptom-based disease prediction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web application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9"/>
          <p:cNvGrpSpPr/>
          <p:nvPr/>
        </p:nvGrpSpPr>
        <p:grpSpPr>
          <a:xfrm>
            <a:off x="107576" y="166875"/>
            <a:ext cx="2465142" cy="438581"/>
            <a:chOff x="0" y="0"/>
            <a:chExt cx="3286857" cy="584774"/>
          </a:xfrm>
        </p:grpSpPr>
        <p:sp>
          <p:nvSpPr>
            <p:cNvPr id="106" name="Google Shape;106;p19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9"/>
            <p:cNvSpPr/>
            <p:nvPr/>
          </p:nvSpPr>
          <p:spPr>
            <a:xfrm>
              <a:off x="292387" y="0"/>
              <a:ext cx="2994470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545525" y="0"/>
              <a:ext cx="2627678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Quattrocento Sans"/>
                  <a:cs typeface="Times New Roman" panose="02020603050405020304" pitchFamily="18" charset="0"/>
                  <a:sym typeface="Quattrocento Sans"/>
                </a:rPr>
                <a:t>XAI and SHAP</a:t>
              </a:r>
              <a:endParaRPr sz="2100" dirty="0">
                <a:solidFill>
                  <a:schemeClr val="dk1"/>
                </a:solidFill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A9397CB-9C2C-67CD-92EC-B85605DAE058}"/>
              </a:ext>
            </a:extLst>
          </p:cNvPr>
          <p:cNvSpPr txBox="1"/>
          <p:nvPr/>
        </p:nvSpPr>
        <p:spPr>
          <a:xfrm>
            <a:off x="326866" y="1016233"/>
            <a:ext cx="4572000" cy="1452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IS EXPLAINABLE AI (XAI)</a:t>
            </a:r>
          </a:p>
          <a:p>
            <a:endParaRPr lang="en-US" dirty="0"/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that explains its decisions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trust and usability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in healthcare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BEADDF-95E0-37A9-3123-CC706EFD7A2B}"/>
              </a:ext>
            </a:extLst>
          </p:cNvPr>
          <p:cNvSpPr txBox="1"/>
          <p:nvPr/>
        </p:nvSpPr>
        <p:spPr>
          <a:xfrm>
            <a:off x="326866" y="2674498"/>
            <a:ext cx="4572000" cy="15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 Explainability</a:t>
            </a:r>
            <a:endParaRPr lang="en-US" sz="1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SHapley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Additive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which words/features influenced prediction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Positive vs Negative impact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5C2436-D36A-864B-5CA3-B07FE8997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000" y="1016233"/>
            <a:ext cx="4503065" cy="30020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929A5F-17E3-3B29-9C72-3A76AB652F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8600" y="1451719"/>
            <a:ext cx="311166" cy="3492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1"/>
          <p:cNvGrpSpPr/>
          <p:nvPr/>
        </p:nvGrpSpPr>
        <p:grpSpPr>
          <a:xfrm>
            <a:off x="87406" y="166875"/>
            <a:ext cx="3062624" cy="438581"/>
            <a:chOff x="0" y="0"/>
            <a:chExt cx="4083500" cy="584774"/>
          </a:xfrm>
        </p:grpSpPr>
        <p:sp>
          <p:nvSpPr>
            <p:cNvPr id="120" name="Google Shape;120;p21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292387" y="0"/>
              <a:ext cx="3723954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1"/>
            <p:cNvSpPr txBox="1"/>
            <p:nvPr/>
          </p:nvSpPr>
          <p:spPr>
            <a:xfrm>
              <a:off x="225227" y="0"/>
              <a:ext cx="3858273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1800" b="1" dirty="0">
                  <a:solidFill>
                    <a:schemeClr val="dk1"/>
                  </a:solidFill>
                  <a:latin typeface="Times New Roman" panose="02020603050405020304" pitchFamily="18" charset="0"/>
                  <a:ea typeface="Quattrocento Sans"/>
                  <a:cs typeface="Times New Roman" panose="02020603050405020304" pitchFamily="18" charset="0"/>
                  <a:sym typeface="Quattrocento Sans"/>
                </a:rPr>
                <a:t>SOLUTION OVERVIEW</a:t>
              </a:r>
              <a:endParaRPr 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Quattrocento Sans"/>
                <a:cs typeface="Times New Roman" panose="02020603050405020304" pitchFamily="18" charset="0"/>
                <a:sym typeface="Quattrocento Sans"/>
              </a:endParaRPr>
            </a:p>
          </p:txBody>
        </p:sp>
      </p:grpSp>
      <p:sp>
        <p:nvSpPr>
          <p:cNvPr id="123" name="Google Shape;123;p21"/>
          <p:cNvSpPr/>
          <p:nvPr/>
        </p:nvSpPr>
        <p:spPr>
          <a:xfrm>
            <a:off x="238225" y="877081"/>
            <a:ext cx="7045693" cy="249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-88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endParaRPr sz="11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82BCD-1889-512F-1BA5-A52B9148DF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7135"/>
          <a:stretch>
            <a:fillRect/>
          </a:stretch>
        </p:blipFill>
        <p:spPr>
          <a:xfrm>
            <a:off x="79320" y="956552"/>
            <a:ext cx="8985359" cy="36023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23"/>
          <p:cNvGrpSpPr/>
          <p:nvPr/>
        </p:nvGrpSpPr>
        <p:grpSpPr>
          <a:xfrm>
            <a:off x="87406" y="186470"/>
            <a:ext cx="2709582" cy="438581"/>
            <a:chOff x="0" y="0"/>
            <a:chExt cx="3612776" cy="584774"/>
          </a:xfrm>
        </p:grpSpPr>
        <p:sp>
          <p:nvSpPr>
            <p:cNvPr id="138" name="Google Shape;138;p23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3"/>
            <p:cNvSpPr/>
            <p:nvPr/>
          </p:nvSpPr>
          <p:spPr>
            <a:xfrm>
              <a:off x="292387" y="0"/>
              <a:ext cx="3320389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3"/>
            <p:cNvSpPr txBox="1"/>
            <p:nvPr/>
          </p:nvSpPr>
          <p:spPr>
            <a:xfrm>
              <a:off x="292387" y="0"/>
              <a:ext cx="3320389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Literature Review</a:t>
              </a:r>
              <a:endParaRPr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141" name="Google Shape;141;p23"/>
          <p:cNvSpPr/>
          <p:nvPr/>
        </p:nvSpPr>
        <p:spPr>
          <a:xfrm>
            <a:off x="440357" y="749990"/>
            <a:ext cx="6417644" cy="4393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-88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Tjoa &amp; Guan (2020):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Categorized methods into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intrinsic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post-hoc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interpretability.</a:t>
            </a:r>
            <a:endParaRPr sz="1100"/>
          </a:p>
          <a:p>
            <a:pPr marL="0" marR="0" lvl="0" indent="-88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Ribeiro et al. (2016): Introduced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LIME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local model-agnostic explanations.</a:t>
            </a:r>
            <a:endParaRPr sz="1100"/>
          </a:p>
          <a:p>
            <a:pPr marL="0" marR="0" lvl="0" indent="-88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Lundberg &amp; Lee (2017):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Proposed </a:t>
            </a: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SHAP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using game theory for feature importance.</a:t>
            </a:r>
            <a:endParaRPr sz="1100"/>
          </a:p>
          <a:p>
            <a:pPr marL="0" marR="0" lvl="0" indent="-88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•"/>
            </a:pPr>
            <a:r>
              <a:rPr lang="en-GB" sz="1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Cynthia Rudin (2019):</a:t>
            </a:r>
            <a:r>
              <a:rPr lang="en-GB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Argued for inherently interpretable models in high-risk       applications.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15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Doshi-Velez &amp; Kim (2017):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Emphasized the need for a rigorous scientific framework and human-centered explanations.</a:t>
            </a:r>
            <a:endParaRPr sz="1100"/>
          </a:p>
          <a:p>
            <a:pPr marL="215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Adadi &amp; Berrada (2018):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Discussed the critical trade-offs between predictive accuracy and interpretability.</a:t>
            </a:r>
            <a:endParaRPr sz="1100"/>
          </a:p>
          <a:p>
            <a:pPr marL="215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Cynthia Rudin (2019):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Argued that high-stakes decisions should use inherently interpretable models rather than post-hoc fixes.</a:t>
            </a:r>
            <a:endParaRPr sz="1100"/>
          </a:p>
          <a:p>
            <a:pPr marL="215900" marR="0" lvl="0" indent="-215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Molnar (2022):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Provided a practical roadmap for implementing both model-specific and model-agnostic techniques.</a:t>
            </a:r>
            <a:endParaRPr sz="11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25"/>
          <p:cNvGrpSpPr/>
          <p:nvPr/>
        </p:nvGrpSpPr>
        <p:grpSpPr>
          <a:xfrm>
            <a:off x="219753" y="222564"/>
            <a:ext cx="2908458" cy="438581"/>
            <a:chOff x="0" y="0"/>
            <a:chExt cx="3877944" cy="584774"/>
          </a:xfrm>
        </p:grpSpPr>
        <p:sp>
          <p:nvSpPr>
            <p:cNvPr id="156" name="Google Shape;156;p25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5"/>
            <p:cNvSpPr/>
            <p:nvPr/>
          </p:nvSpPr>
          <p:spPr>
            <a:xfrm>
              <a:off x="292387" y="0"/>
              <a:ext cx="3585557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C6F41E9-EFFE-0E87-E54A-0538D3BACD1B}"/>
              </a:ext>
            </a:extLst>
          </p:cNvPr>
          <p:cNvSpPr txBox="1"/>
          <p:nvPr/>
        </p:nvSpPr>
        <p:spPr>
          <a:xfrm>
            <a:off x="439043" y="271038"/>
            <a:ext cx="2514600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  <a:buSzPts val="2100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WORKFLOW</a:t>
            </a:r>
            <a:endParaRPr lang="en-IN" sz="1800" dirty="0">
              <a:solidFill>
                <a:schemeClr val="dk1"/>
              </a:solidFill>
              <a:latin typeface="Times New Roman" panose="02020603050405020304" pitchFamily="18" charset="0"/>
              <a:ea typeface="Quattrocento Sans"/>
              <a:cs typeface="Times New Roman" panose="02020603050405020304" pitchFamily="18" charset="0"/>
              <a:sym typeface="Quattrocento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87F29-226C-16EC-71ED-4077A8D79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390" y="709619"/>
            <a:ext cx="6540642" cy="43604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85" y="424524"/>
            <a:ext cx="8859274" cy="39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6"/>
          <p:cNvGrpSpPr/>
          <p:nvPr/>
        </p:nvGrpSpPr>
        <p:grpSpPr>
          <a:xfrm>
            <a:off x="114231" y="186470"/>
            <a:ext cx="1812953" cy="438581"/>
            <a:chOff x="0" y="0"/>
            <a:chExt cx="2417271" cy="584774"/>
          </a:xfrm>
        </p:grpSpPr>
        <p:sp>
          <p:nvSpPr>
            <p:cNvPr id="165" name="Google Shape;165;p26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6"/>
            <p:cNvSpPr/>
            <p:nvPr/>
          </p:nvSpPr>
          <p:spPr>
            <a:xfrm>
              <a:off x="292387" y="0"/>
              <a:ext cx="2124884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6"/>
            <p:cNvSpPr txBox="1"/>
            <p:nvPr/>
          </p:nvSpPr>
          <p:spPr>
            <a:xfrm>
              <a:off x="292387" y="0"/>
              <a:ext cx="2124884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Tech Stack</a:t>
              </a:r>
              <a:endParaRPr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8928A1-1112-DD15-6E03-7CBC4042E12D}"/>
              </a:ext>
            </a:extLst>
          </p:cNvPr>
          <p:cNvSpPr txBox="1"/>
          <p:nvPr/>
        </p:nvSpPr>
        <p:spPr>
          <a:xfrm>
            <a:off x="333521" y="911491"/>
            <a:ext cx="395176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React.js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(API communication)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(Dark Theme UI) 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(Python)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JSON-based communication 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/ AI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 (Transformer Model) → Sentiment Analysis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→ Disease Prediction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 → Explainable AI (feature importance)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B26DE9-A0E2-659F-38D1-6CCF212885B1}"/>
              </a:ext>
            </a:extLst>
          </p:cNvPr>
          <p:cNvSpPr txBox="1"/>
          <p:nvPr/>
        </p:nvSpPr>
        <p:spPr>
          <a:xfrm>
            <a:off x="5168685" y="625051"/>
            <a:ext cx="323139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 → Data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→ ML utilities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preprocessing pipelines </a:t>
            </a:r>
          </a:p>
          <a:p>
            <a:pPr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Review Dataset (train/test CSV)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datasets: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symptoms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Precautions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Deployment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→ Version Control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Model experimentation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Render → Backend deployment (planned/partial) </a:t>
            </a:r>
          </a:p>
          <a:p>
            <a:pPr marL="457200" lvl="1"/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>
          <a:extLst>
            <a:ext uri="{FF2B5EF4-FFF2-40B4-BE49-F238E27FC236}">
              <a16:creationId xmlns:a16="http://schemas.microsoft.com/office/drawing/2014/main" id="{2E27C468-4D23-1BC8-964D-ABF1E6882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27">
            <a:extLst>
              <a:ext uri="{FF2B5EF4-FFF2-40B4-BE49-F238E27FC236}">
                <a16:creationId xmlns:a16="http://schemas.microsoft.com/office/drawing/2014/main" id="{820163AC-3AB8-0DAE-B784-70E6406AD57A}"/>
              </a:ext>
            </a:extLst>
          </p:cNvPr>
          <p:cNvGrpSpPr/>
          <p:nvPr/>
        </p:nvGrpSpPr>
        <p:grpSpPr>
          <a:xfrm>
            <a:off x="157149" y="209716"/>
            <a:ext cx="2104565" cy="438525"/>
            <a:chOff x="0" y="0"/>
            <a:chExt cx="2806087" cy="584700"/>
          </a:xfrm>
        </p:grpSpPr>
        <p:sp>
          <p:nvSpPr>
            <p:cNvPr id="175" name="Google Shape;175;p27">
              <a:extLst>
                <a:ext uri="{FF2B5EF4-FFF2-40B4-BE49-F238E27FC236}">
                  <a16:creationId xmlns:a16="http://schemas.microsoft.com/office/drawing/2014/main" id="{91374CD4-9FFD-A8F2-4322-30489FF67E82}"/>
                </a:ext>
              </a:extLst>
            </p:cNvPr>
            <p:cNvSpPr/>
            <p:nvPr/>
          </p:nvSpPr>
          <p:spPr>
            <a:xfrm>
              <a:off x="0" y="0"/>
              <a:ext cx="584700" cy="58470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7">
              <a:extLst>
                <a:ext uri="{FF2B5EF4-FFF2-40B4-BE49-F238E27FC236}">
                  <a16:creationId xmlns:a16="http://schemas.microsoft.com/office/drawing/2014/main" id="{37EE69D8-7A9A-67D4-7849-3B435C67E8D4}"/>
                </a:ext>
              </a:extLst>
            </p:cNvPr>
            <p:cNvSpPr/>
            <p:nvPr/>
          </p:nvSpPr>
          <p:spPr>
            <a:xfrm>
              <a:off x="292387" y="0"/>
              <a:ext cx="2513700" cy="584700"/>
            </a:xfrm>
            <a:prstGeom prst="rect">
              <a:avLst/>
            </a:prstGeom>
            <a:solidFill>
              <a:schemeClr val="lt1">
                <a:alpha val="90200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1848DA9-9C30-E9B1-F940-74CB7D8962D7}"/>
              </a:ext>
            </a:extLst>
          </p:cNvPr>
          <p:cNvSpPr txBox="1"/>
          <p:nvPr/>
        </p:nvSpPr>
        <p:spPr>
          <a:xfrm>
            <a:off x="322167" y="27508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MODEL EVALUATION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3EF5CE8-9C09-19F0-ECB3-BEFD9DF88B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23" y="777889"/>
            <a:ext cx="216531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91%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Precision: 89%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Recall: 88%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F1-score: 0.885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8D88E-A396-4CB7-CE57-E63A7B73C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167" y="2107866"/>
            <a:ext cx="3480435" cy="294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6B9BE4-E27C-0013-0182-0DC832EBB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549105"/>
            <a:ext cx="4067041" cy="32672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39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29"/>
          <p:cNvGrpSpPr/>
          <p:nvPr/>
        </p:nvGrpSpPr>
        <p:grpSpPr>
          <a:xfrm>
            <a:off x="114300" y="217294"/>
            <a:ext cx="4457699" cy="499212"/>
            <a:chOff x="0" y="0"/>
            <a:chExt cx="2716304" cy="665616"/>
          </a:xfrm>
        </p:grpSpPr>
        <p:sp>
          <p:nvSpPr>
            <p:cNvPr id="208" name="Google Shape;208;p29"/>
            <p:cNvSpPr/>
            <p:nvPr/>
          </p:nvSpPr>
          <p:spPr>
            <a:xfrm>
              <a:off x="0" y="0"/>
              <a:ext cx="665616" cy="665616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332808" y="0"/>
              <a:ext cx="2383496" cy="665616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4CFCE1B-EE91-6255-3BB5-5144501F3C22}"/>
              </a:ext>
            </a:extLst>
          </p:cNvPr>
          <p:cNvSpPr txBox="1"/>
          <p:nvPr/>
        </p:nvSpPr>
        <p:spPr>
          <a:xfrm>
            <a:off x="628649" y="31301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SHAP over Other Explainability Techniques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F89F541-E386-FE0D-55CD-C162449B6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253474"/>
              </p:ext>
            </p:extLst>
          </p:nvPr>
        </p:nvGraphicFramePr>
        <p:xfrm>
          <a:off x="628649" y="1175469"/>
          <a:ext cx="7886700" cy="310896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7872871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30836227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23068664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6207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Criteria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SHAP (Used in </a:t>
                      </a:r>
                      <a:r>
                        <a:rPr lang="en-IN" b="1" dirty="0" err="1">
                          <a:solidFill>
                            <a:srgbClr val="0070C0"/>
                          </a:solidFill>
                        </a:rPr>
                        <a:t>MediXAI</a:t>
                      </a:r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LIME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0070C0"/>
                          </a:solidFill>
                        </a:rPr>
                        <a:t>Traditional Feature Importance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058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Explanation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Consistent &amp; global + 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Local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Global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6883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(consistent results)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(varies per run)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3382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Very High (clear contribution scores)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166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FF0000"/>
                          </a:solidFill>
                        </a:rPr>
                        <a:t>Suitability for NLP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Strong (works with text tokens)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Weak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724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rgbClr val="FF0000"/>
                          </a:solidFill>
                        </a:rPr>
                        <a:t>Trust Factor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(theoretical foundation)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815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2649" y="152399"/>
            <a:ext cx="4838701" cy="4838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" name="Google Shape;174;p27"/>
          <p:cNvGrpSpPr/>
          <p:nvPr/>
        </p:nvGrpSpPr>
        <p:grpSpPr>
          <a:xfrm>
            <a:off x="87406" y="186469"/>
            <a:ext cx="2104565" cy="438525"/>
            <a:chOff x="0" y="0"/>
            <a:chExt cx="2806087" cy="584700"/>
          </a:xfrm>
        </p:grpSpPr>
        <p:sp>
          <p:nvSpPr>
            <p:cNvPr id="175" name="Google Shape;175;p27"/>
            <p:cNvSpPr/>
            <p:nvPr/>
          </p:nvSpPr>
          <p:spPr>
            <a:xfrm>
              <a:off x="0" y="0"/>
              <a:ext cx="584700" cy="584700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292387" y="0"/>
              <a:ext cx="2513700" cy="584700"/>
            </a:xfrm>
            <a:prstGeom prst="rect">
              <a:avLst/>
            </a:prstGeom>
            <a:solidFill>
              <a:schemeClr val="lt1">
                <a:alpha val="90200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7"/>
            <p:cNvSpPr txBox="1"/>
            <p:nvPr/>
          </p:nvSpPr>
          <p:spPr>
            <a:xfrm>
              <a:off x="292387" y="0"/>
              <a:ext cx="25137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Applications</a:t>
              </a:r>
              <a:endParaRPr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p28"/>
          <p:cNvGrpSpPr/>
          <p:nvPr/>
        </p:nvGrpSpPr>
        <p:grpSpPr>
          <a:xfrm>
            <a:off x="73960" y="186470"/>
            <a:ext cx="2615900" cy="438581"/>
            <a:chOff x="0" y="0"/>
            <a:chExt cx="3487866" cy="584774"/>
          </a:xfrm>
        </p:grpSpPr>
        <p:sp>
          <p:nvSpPr>
            <p:cNvPr id="183" name="Google Shape;183;p28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8"/>
            <p:cNvSpPr/>
            <p:nvPr/>
          </p:nvSpPr>
          <p:spPr>
            <a:xfrm>
              <a:off x="292387" y="0"/>
              <a:ext cx="3195479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8"/>
            <p:cNvSpPr txBox="1"/>
            <p:nvPr/>
          </p:nvSpPr>
          <p:spPr>
            <a:xfrm>
              <a:off x="292387" y="0"/>
              <a:ext cx="3195479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80000" rIns="80000" bIns="8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Quattrocento Sans"/>
                <a:buNone/>
              </a:pPr>
              <a:r>
                <a:rPr lang="en-GB" sz="21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SWOT Analysis</a:t>
              </a:r>
              <a:endParaRPr sz="21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86" name="Google Shape;186;p28"/>
          <p:cNvGrpSpPr/>
          <p:nvPr/>
        </p:nvGrpSpPr>
        <p:grpSpPr>
          <a:xfrm>
            <a:off x="123062" y="782040"/>
            <a:ext cx="8780713" cy="4174990"/>
            <a:chOff x="0" y="2788"/>
            <a:chExt cx="11340352" cy="5566653"/>
          </a:xfrm>
        </p:grpSpPr>
        <p:sp>
          <p:nvSpPr>
            <p:cNvPr id="187" name="Google Shape;187;p28"/>
            <p:cNvSpPr/>
            <p:nvPr/>
          </p:nvSpPr>
          <p:spPr>
            <a:xfrm rot="5400000">
              <a:off x="7174895" y="-2955443"/>
              <a:ext cx="1073089" cy="72578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CD3EA">
                <a:alpha val="90196"/>
              </a:srgbClr>
            </a:solidFill>
            <a:ln w="12700" cap="flat" cmpd="sng">
              <a:solidFill>
                <a:srgbClr val="CCD3EA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8"/>
            <p:cNvSpPr txBox="1"/>
            <p:nvPr/>
          </p:nvSpPr>
          <p:spPr>
            <a:xfrm>
              <a:off x="4082527" y="189309"/>
              <a:ext cx="7205441" cy="968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5750" tIns="92875" rIns="185750" bIns="92875" anchor="ctr" anchorCtr="0">
              <a:noAutofit/>
            </a:bodyPr>
            <a:lstStyle/>
            <a:p>
              <a:pPr marL="127000" marR="0" lvl="1" indent="-1270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Times New Roman"/>
                <a:buChar char="•"/>
              </a:pPr>
              <a:endParaRPr sz="1100" dirty="0"/>
            </a:p>
          </p:txBody>
        </p:sp>
        <p:sp>
          <p:nvSpPr>
            <p:cNvPr id="189" name="Google Shape;189;p28"/>
            <p:cNvSpPr/>
            <p:nvPr/>
          </p:nvSpPr>
          <p:spPr>
            <a:xfrm>
              <a:off x="0" y="2788"/>
              <a:ext cx="4082527" cy="1341362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8"/>
            <p:cNvSpPr txBox="1"/>
            <p:nvPr/>
          </p:nvSpPr>
          <p:spPr>
            <a:xfrm>
              <a:off x="65480" y="68268"/>
              <a:ext cx="3951567" cy="1210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40000" rIns="80000" bIns="4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rPr lang="en-GB" sz="21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Strengths</a:t>
              </a:r>
              <a:endParaRPr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1" name="Google Shape;191;p28"/>
            <p:cNvSpPr/>
            <p:nvPr/>
          </p:nvSpPr>
          <p:spPr>
            <a:xfrm rot="5400000">
              <a:off x="7174895" y="-1547013"/>
              <a:ext cx="1073089" cy="72578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CD3EA">
                <a:alpha val="90196"/>
              </a:srgbClr>
            </a:solidFill>
            <a:ln w="12700" cap="flat" cmpd="sng">
              <a:solidFill>
                <a:srgbClr val="CCD3EA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8"/>
            <p:cNvSpPr txBox="1"/>
            <p:nvPr/>
          </p:nvSpPr>
          <p:spPr>
            <a:xfrm>
              <a:off x="3893035" y="1633263"/>
              <a:ext cx="7032218" cy="968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5750" tIns="92875" rIns="185750" bIns="92875" anchor="ctr" anchorCtr="0">
              <a:noAutofit/>
            </a:bodyPr>
            <a:lstStyle/>
            <a:p>
              <a:pPr marL="127000" marR="0" lvl="1" indent="-381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Relies on static datasets and lacks real-time medical data integration.</a:t>
              </a:r>
            </a:p>
            <a:p>
              <a:pPr marL="127000" marR="0" lvl="1" indent="-381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Model performance depends heavily on user input quality and SHAP adds computational overhead</a:t>
              </a:r>
              <a:endParaRPr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28"/>
            <p:cNvSpPr/>
            <p:nvPr/>
          </p:nvSpPr>
          <p:spPr>
            <a:xfrm>
              <a:off x="0" y="1411218"/>
              <a:ext cx="4082527" cy="1341362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8"/>
            <p:cNvSpPr txBox="1"/>
            <p:nvPr/>
          </p:nvSpPr>
          <p:spPr>
            <a:xfrm>
              <a:off x="65480" y="1476698"/>
              <a:ext cx="3951567" cy="1210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40000" rIns="80000" bIns="4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rPr lang="en-GB" sz="21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Weakness</a:t>
              </a:r>
              <a:endParaRPr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5" name="Google Shape;195;p28"/>
            <p:cNvSpPr/>
            <p:nvPr/>
          </p:nvSpPr>
          <p:spPr>
            <a:xfrm rot="5400000">
              <a:off x="7174895" y="-138582"/>
              <a:ext cx="1073089" cy="72578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CD3EA">
                <a:alpha val="90196"/>
              </a:srgbClr>
            </a:solidFill>
            <a:ln w="12700" cap="flat" cmpd="sng">
              <a:solidFill>
                <a:srgbClr val="CCD3EA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8"/>
            <p:cNvSpPr txBox="1"/>
            <p:nvPr/>
          </p:nvSpPr>
          <p:spPr>
            <a:xfrm>
              <a:off x="4082527" y="3006170"/>
              <a:ext cx="7205441" cy="968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5750" tIns="92875" rIns="185750" bIns="92875" anchor="ctr" anchorCtr="0">
              <a:noAutofit/>
            </a:bodyPr>
            <a:lstStyle/>
            <a:p>
              <a: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Can be extended with real-time healthcare APIs and clinical validation for practical use.</a:t>
              </a:r>
            </a:p>
            <a:p>
              <a:pPr marR="0" lvl="1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Potential for mobile deployment and personalized recommendations using user data</a:t>
              </a:r>
              <a:r>
                <a:rPr lang="en-GB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.</a:t>
              </a:r>
              <a:endParaRPr sz="1100" dirty="0"/>
            </a:p>
          </p:txBody>
        </p:sp>
        <p:sp>
          <p:nvSpPr>
            <p:cNvPr id="197" name="Google Shape;197;p28"/>
            <p:cNvSpPr/>
            <p:nvPr/>
          </p:nvSpPr>
          <p:spPr>
            <a:xfrm>
              <a:off x="0" y="2819649"/>
              <a:ext cx="4082527" cy="1341362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8"/>
            <p:cNvSpPr txBox="1"/>
            <p:nvPr/>
          </p:nvSpPr>
          <p:spPr>
            <a:xfrm>
              <a:off x="65480" y="2885129"/>
              <a:ext cx="3951567" cy="1210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40000" rIns="80000" bIns="4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rPr lang="en-GB" sz="21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Opportunities</a:t>
              </a:r>
              <a:endParaRPr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28"/>
            <p:cNvSpPr/>
            <p:nvPr/>
          </p:nvSpPr>
          <p:spPr>
            <a:xfrm rot="5400000">
              <a:off x="7174895" y="1295236"/>
              <a:ext cx="1073089" cy="7257825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CCD3EA">
                <a:alpha val="90196"/>
              </a:srgbClr>
            </a:solidFill>
            <a:ln w="12700" cap="flat" cmpd="sng">
              <a:solidFill>
                <a:srgbClr val="CCD3EA">
                  <a:alpha val="90196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8"/>
            <p:cNvSpPr txBox="1"/>
            <p:nvPr/>
          </p:nvSpPr>
          <p:spPr>
            <a:xfrm>
              <a:off x="4082527" y="4439988"/>
              <a:ext cx="7205441" cy="968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5750" tIns="92875" rIns="185750" bIns="92875" anchor="ctr" anchorCtr="0">
              <a:noAutofit/>
            </a:bodyPr>
            <a:lstStyle/>
            <a:p>
              <a:pPr marL="127000" marR="0" lvl="1" indent="-381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Regulatory and medical liability issues may limit real-world deployment.</a:t>
              </a:r>
            </a:p>
            <a:p>
              <a:pPr marL="127000" marR="0" lvl="1" indent="-381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privacy concerns and competition from advanced healthcare AI systems.</a:t>
              </a:r>
              <a:endParaRPr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28"/>
            <p:cNvSpPr/>
            <p:nvPr/>
          </p:nvSpPr>
          <p:spPr>
            <a:xfrm>
              <a:off x="0" y="4228079"/>
              <a:ext cx="4082527" cy="1341362"/>
            </a:xfrm>
            <a:prstGeom prst="roundRect">
              <a:avLst>
                <a:gd name="adj" fmla="val 16667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8"/>
            <p:cNvSpPr txBox="1"/>
            <p:nvPr/>
          </p:nvSpPr>
          <p:spPr>
            <a:xfrm>
              <a:off x="65480" y="4293559"/>
              <a:ext cx="3951567" cy="12104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0" tIns="40000" rIns="80000" bIns="400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imes New Roman"/>
                <a:buNone/>
              </a:pPr>
              <a:r>
                <a:rPr lang="en-GB" sz="21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Threats</a:t>
              </a:r>
              <a:endParaRPr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5F71D2AA-A809-E410-FEA7-716125112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118" y="799284"/>
            <a:ext cx="549567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BERT, Random Forest, and SHAP to deliver accurate and explainable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unified, user-friendly platform combining analysis, prediction, and visualization.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31"/>
          <p:cNvGrpSpPr/>
          <p:nvPr/>
        </p:nvGrpSpPr>
        <p:grpSpPr>
          <a:xfrm>
            <a:off x="105550" y="186470"/>
            <a:ext cx="1734824" cy="438581"/>
            <a:chOff x="0" y="0"/>
            <a:chExt cx="2313099" cy="584774"/>
          </a:xfrm>
        </p:grpSpPr>
        <p:sp>
          <p:nvSpPr>
            <p:cNvPr id="223" name="Google Shape;223;p31"/>
            <p:cNvSpPr/>
            <p:nvPr/>
          </p:nvSpPr>
          <p:spPr>
            <a:xfrm>
              <a:off x="0" y="0"/>
              <a:ext cx="584774" cy="584774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1"/>
            <p:cNvSpPr/>
            <p:nvPr/>
          </p:nvSpPr>
          <p:spPr>
            <a:xfrm>
              <a:off x="292387" y="0"/>
              <a:ext cx="2020712" cy="584774"/>
            </a:xfrm>
            <a:prstGeom prst="rect">
              <a:avLst/>
            </a:prstGeom>
            <a:solidFill>
              <a:schemeClr val="lt1">
                <a:alpha val="90196"/>
              </a:schemeClr>
            </a:solidFill>
            <a:ln w="12700" cap="flat" cmpd="sng">
              <a:solidFill>
                <a:srgbClr val="4372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1"/>
            <p:cNvSpPr txBox="1"/>
            <p:nvPr/>
          </p:nvSpPr>
          <p:spPr>
            <a:xfrm>
              <a:off x="292387" y="0"/>
              <a:ext cx="2020712" cy="584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Quattrocento Sans"/>
                <a:buNone/>
              </a:pPr>
              <a:r>
                <a:rPr lang="en-GB" sz="1800" b="1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References</a:t>
              </a:r>
              <a:endParaRPr sz="18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226" name="Google Shape;226;p31"/>
          <p:cNvSpPr txBox="1"/>
          <p:nvPr/>
        </p:nvSpPr>
        <p:spPr>
          <a:xfrm>
            <a:off x="741325" y="1027175"/>
            <a:ext cx="7318800" cy="3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Tjoa &amp; Guan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"A Survey on Explainable Artificial Intelligence," </a:t>
            </a:r>
            <a:r>
              <a:rPr lang="en-GB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TNNLS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2020.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Linardatos et al.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"Explainable AI: A Review of Interpretability Methods," </a:t>
            </a:r>
            <a:r>
              <a:rPr lang="en-GB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Entropy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2020.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Ribeiro et al.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"Why Should I Trust You? Explaining Any Classifier," </a:t>
            </a:r>
            <a:r>
              <a:rPr lang="en-GB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ACM SIGKDD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2016.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Lundberg &amp; Lee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"A Unified Approach to Interpreting Model Predictions," </a:t>
            </a:r>
            <a:r>
              <a:rPr lang="en-GB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NIPS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2017.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Doshi-Velez &amp; Kim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"Towards a Rigorous Science of Interpretable ML," 2017.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Adadi &amp; Berrada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"Peeking Inside the Black-Box: A Survey on XAI," </a:t>
            </a:r>
            <a:r>
              <a:rPr lang="en-GB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IEEE Access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2018.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C. Rudin, "Stop Explaining Black Box Models for High Stakes Decisions," </a:t>
            </a:r>
            <a:r>
              <a:rPr lang="en-GB" sz="14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Nature</a:t>
            </a: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2019.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C. Molnar, "Interpretable Machine Learning," 2022.</a:t>
            </a:r>
            <a:endParaRPr sz="1100"/>
          </a:p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2"/>
          <p:cNvSpPr txBox="1"/>
          <p:nvPr/>
        </p:nvSpPr>
        <p:spPr>
          <a:xfrm>
            <a:off x="1421470" y="2701122"/>
            <a:ext cx="6301059" cy="900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>
                <a:solidFill>
                  <a:schemeClr val="accen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sz="5400" b="1">
              <a:solidFill>
                <a:schemeClr val="accen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8001000" y="112853"/>
            <a:ext cx="1035935" cy="5121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2" descr="A picture containing text, clipar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9692" y="868690"/>
            <a:ext cx="3964615" cy="1703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822</Words>
  <Application>Microsoft Office PowerPoint</Application>
  <PresentationFormat>On-screen Show (16:9)</PresentationFormat>
  <Paragraphs>142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Calibri</vt:lpstr>
      <vt:lpstr>Arial</vt:lpstr>
      <vt:lpstr>Wingdings</vt:lpstr>
      <vt:lpstr>Times New Roman</vt:lpstr>
      <vt:lpstr>Quattrocento Sans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manas arora</cp:lastModifiedBy>
  <cp:revision>2</cp:revision>
  <dcterms:modified xsi:type="dcterms:W3CDTF">2026-05-05T08:00:12Z</dcterms:modified>
</cp:coreProperties>
</file>